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94" r:id="rId4"/>
    <p:sldId id="300" r:id="rId5"/>
    <p:sldId id="306" r:id="rId6"/>
    <p:sldId id="301" r:id="rId7"/>
    <p:sldId id="307" r:id="rId8"/>
    <p:sldId id="310" r:id="rId9"/>
    <p:sldId id="308" r:id="rId10"/>
    <p:sldId id="30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36"/>
    <p:restoredTop sz="86392"/>
  </p:normalViewPr>
  <p:slideViewPr>
    <p:cSldViewPr snapToGrid="0">
      <p:cViewPr>
        <p:scale>
          <a:sx n="100" d="100"/>
          <a:sy n="100" d="100"/>
        </p:scale>
        <p:origin x="1048" y="6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6AC68-E449-5E49-861F-DE07525DDEB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EC29E-8CFF-4448-99C4-07B3E615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0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34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27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E77D-7DDB-EB56-591E-B41AF7E6E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44246-757E-6350-D26A-0F5C00AF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5C1C3-2BAA-E4D2-BD4D-8100D1475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F85D8-6361-4154-B820-6573E68EB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79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E2D7-99A9-FE9C-909C-952AB710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2C257-039A-16A7-C1CF-305228F12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67A5A-173F-C4D4-290A-BA9374875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AEDAF-9281-6D49-934D-992DF39A8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01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F0C1-9F4E-159D-A720-0930749C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560AC-0AA0-C390-E4E3-17F20907B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8F6F1-6673-94B8-C977-6707FF068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B0349-ADC9-9B60-39CA-06F8BAACF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26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E4AF-6321-163C-6CE2-A7854DA1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D8D97-8FD5-2DC1-991C-572D6FA15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C8FEC-DC99-8B76-9E83-0442DA610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E3F6A-B870-4E36-0E76-D02BDDD69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12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2A7B-047F-C07C-451B-C7DC2257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9270B-4937-01A3-43AC-DEE34729E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1AECF-54FD-D833-A8B0-15483EBF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AEACB-762E-BA43-C301-44160CC66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46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A2D6C-16A4-0020-D2DC-856A2C55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49985-8F11-B635-89A6-98038C991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FF006-687C-9787-7A6D-44DCB8332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76BA0-F98B-06F7-3BC4-0924E75A0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3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8EA5-B360-68E3-7458-DCE86FAB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E7D39-7D7D-B184-9DB2-336A7F6EE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A2A1E-4D4E-86A0-2388-3E61E72CE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DE0A5-681E-4011-4045-C9074E4B3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61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00C75-DAF3-F265-6672-59FF19A1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C160E-8559-C241-F2F3-1E7B5FA8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C070B-07C7-7898-1562-009A83232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5011E-824E-23F2-C517-6E37B926E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8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FC88B-9BBF-27A3-DDB2-1C1A8F1DA13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522075" y="63500"/>
            <a:ext cx="631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Proprietary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1A01-8CB7-A598-6DF1-F5D322EDD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1391441"/>
            <a:ext cx="8361229" cy="2098226"/>
          </a:xfrm>
        </p:spPr>
        <p:txBody>
          <a:bodyPr/>
          <a:lstStyle/>
          <a:p>
            <a:r>
              <a:rPr lang="en-US" sz="2600" b="1" dirty="0"/>
              <a:t>REPLIKACIJA I MEHANIZMI VISOKE DOSTUPNOSTI U MONGODB REPLICA SET ARHITEKTURI</a:t>
            </a:r>
            <a:endParaRPr lang="en-US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99B67-63B3-EF71-5F5E-3BEF4C7EB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9313" y="4069685"/>
            <a:ext cx="2431569" cy="1076572"/>
          </a:xfrm>
        </p:spPr>
        <p:txBody>
          <a:bodyPr>
            <a:normAutofit/>
          </a:bodyPr>
          <a:lstStyle/>
          <a:p>
            <a:pPr algn="l"/>
            <a:r>
              <a:rPr lang="en-US" sz="1400" dirty="0"/>
              <a:t>Student:</a:t>
            </a:r>
          </a:p>
          <a:p>
            <a:pPr algn="l"/>
            <a:r>
              <a:rPr lang="en-US" sz="1400" dirty="0"/>
              <a:t>Andrea </a:t>
            </a:r>
            <a:r>
              <a:rPr lang="en-US" sz="1400" dirty="0" err="1"/>
              <a:t>Valčić</a:t>
            </a:r>
            <a:r>
              <a:rPr lang="en-US" sz="1400" dirty="0"/>
              <a:t>, br. Ind. 1928 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42C5F77-F833-8055-81E4-229F2033CB2B}"/>
              </a:ext>
            </a:extLst>
          </p:cNvPr>
          <p:cNvSpPr txBox="1">
            <a:spLocks/>
          </p:cNvSpPr>
          <p:nvPr/>
        </p:nvSpPr>
        <p:spPr>
          <a:xfrm>
            <a:off x="8311120" y="4067100"/>
            <a:ext cx="2615655" cy="1076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 err="1"/>
              <a:t>Profesor</a:t>
            </a:r>
            <a:r>
              <a:rPr lang="en-US" sz="1400" dirty="0"/>
              <a:t>:</a:t>
            </a:r>
          </a:p>
          <a:p>
            <a:pPr algn="l"/>
            <a:r>
              <a:rPr lang="en-US" sz="1400" dirty="0"/>
              <a:t>prof. dr Aleksandar </a:t>
            </a:r>
            <a:r>
              <a:rPr lang="en-US" sz="1400" dirty="0" err="1"/>
              <a:t>Stanimirović</a:t>
            </a:r>
            <a:endParaRPr lang="en-US" sz="1400" dirty="0"/>
          </a:p>
          <a:p>
            <a:pPr algn="l"/>
            <a:endParaRPr lang="en-US" sz="1400" dirty="0"/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98C0B7A9-C253-BA36-20FA-A046478750F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063180" y="1160949"/>
            <a:ext cx="863600" cy="863600"/>
          </a:xfrm>
          <a:prstGeom prst="rect">
            <a:avLst/>
          </a:prstGeom>
        </p:spPr>
      </p:pic>
      <p:pic>
        <p:nvPicPr>
          <p:cNvPr id="7" name="image2.png">
            <a:extLst>
              <a:ext uri="{FF2B5EF4-FFF2-40B4-BE49-F238E27FC236}">
                <a16:creationId xmlns:a16="http://schemas.microsoft.com/office/drawing/2014/main" id="{3F2C6A83-B629-3FFC-5331-15DB45640A9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64705" y="1186349"/>
            <a:ext cx="837565" cy="838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7F9EA70E-44F4-B52B-74A1-928071627003}"/>
              </a:ext>
            </a:extLst>
          </p:cNvPr>
          <p:cNvSpPr txBox="1">
            <a:spLocks/>
          </p:cNvSpPr>
          <p:nvPr/>
        </p:nvSpPr>
        <p:spPr>
          <a:xfrm>
            <a:off x="4346492" y="1250168"/>
            <a:ext cx="3498499" cy="1076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UNIVERZITET U NIŠU </a:t>
            </a:r>
          </a:p>
          <a:p>
            <a:r>
              <a:rPr lang="en-US" sz="1400" dirty="0"/>
              <a:t>ELEKTRONSKI FAKULTET </a:t>
            </a:r>
          </a:p>
        </p:txBody>
      </p:sp>
    </p:spTree>
    <p:extLst>
      <p:ext uri="{BB962C8B-B14F-4D97-AF65-F5344CB8AC3E}">
        <p14:creationId xmlns:p14="http://schemas.microsoft.com/office/powerpoint/2010/main" val="30815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0383C-14D4-4F1B-06F8-3F92A32C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22DBF-DBC9-E1CE-7976-51615464B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088734" cy="1485900"/>
          </a:xfrm>
        </p:spPr>
        <p:txBody>
          <a:bodyPr>
            <a:normAutofit/>
          </a:bodyPr>
          <a:lstStyle/>
          <a:p>
            <a:r>
              <a:rPr lang="en-US" sz="4000" dirty="0" err="1"/>
              <a:t>Zašto</a:t>
            </a:r>
            <a:r>
              <a:rPr lang="en-US" sz="4000" dirty="0"/>
              <a:t> </a:t>
            </a:r>
            <a:r>
              <a:rPr lang="en-US" sz="4000" dirty="0" err="1"/>
              <a:t>jedna</a:t>
            </a:r>
            <a:r>
              <a:rPr lang="en-US" sz="4000" dirty="0"/>
              <a:t> </a:t>
            </a:r>
            <a:r>
              <a:rPr lang="en-US" sz="4000" dirty="0" err="1"/>
              <a:t>baza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r>
              <a:rPr lang="en-US" sz="4000" dirty="0"/>
              <a:t> </a:t>
            </a:r>
            <a:r>
              <a:rPr lang="en-US" sz="4000" dirty="0" err="1"/>
              <a:t>nije</a:t>
            </a:r>
            <a:r>
              <a:rPr lang="en-US" sz="4000" dirty="0"/>
              <a:t> </a:t>
            </a:r>
            <a:r>
              <a:rPr lang="en-US" sz="4000" dirty="0" err="1"/>
              <a:t>dovoljna</a:t>
            </a:r>
            <a:r>
              <a:rPr lang="en-US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AE00-E648-5E2E-5537-01EA31FFF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71700"/>
            <a:ext cx="6921500" cy="36957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1" i="1" dirty="0"/>
          </a:p>
          <a:p>
            <a:r>
              <a:rPr lang="en-US" sz="1800" dirty="0"/>
              <a:t>Jedan server = </a:t>
            </a:r>
            <a:r>
              <a:rPr lang="en-US" sz="1800" dirty="0" err="1"/>
              <a:t>jedan</a:t>
            </a:r>
            <a:r>
              <a:rPr lang="en-US" sz="1800" dirty="0"/>
              <a:t> </a:t>
            </a:r>
            <a:r>
              <a:rPr lang="en-US" sz="1800" dirty="0" err="1"/>
              <a:t>kvar</a:t>
            </a:r>
            <a:r>
              <a:rPr lang="en-US" sz="1800" dirty="0"/>
              <a:t> = </a:t>
            </a:r>
            <a:r>
              <a:rPr lang="en-US" sz="1800" dirty="0" err="1"/>
              <a:t>sistem</a:t>
            </a:r>
            <a:r>
              <a:rPr lang="en-US" sz="1800" dirty="0"/>
              <a:t> ne </a:t>
            </a:r>
            <a:r>
              <a:rPr lang="en-US" sz="1800" dirty="0" err="1"/>
              <a:t>radi</a:t>
            </a:r>
            <a:r>
              <a:rPr lang="en-US" sz="1800" dirty="0"/>
              <a:t> (</a:t>
            </a:r>
            <a:r>
              <a:rPr lang="en-US" sz="1800" i="1" dirty="0"/>
              <a:t>single point of failure</a:t>
            </a:r>
            <a:r>
              <a:rPr lang="en-US" sz="1800" dirty="0"/>
              <a:t>) </a:t>
            </a:r>
          </a:p>
          <a:p>
            <a:r>
              <a:rPr lang="en-US" sz="1800" dirty="0" err="1"/>
              <a:t>Rešenje</a:t>
            </a:r>
            <a:r>
              <a:rPr lang="en-US" sz="1800" dirty="0"/>
              <a:t>: </a:t>
            </a:r>
            <a:r>
              <a:rPr lang="en-US" sz="1800" dirty="0" err="1"/>
              <a:t>iste</a:t>
            </a:r>
            <a:r>
              <a:rPr lang="en-US" sz="1800" dirty="0"/>
              <a:t> </a:t>
            </a:r>
            <a:r>
              <a:rPr lang="en-US" sz="1800" dirty="0" err="1"/>
              <a:t>podatke</a:t>
            </a:r>
            <a:r>
              <a:rPr lang="en-US" sz="1800" dirty="0"/>
              <a:t> </a:t>
            </a:r>
            <a:r>
              <a:rPr lang="en-US" sz="1800" dirty="0" err="1"/>
              <a:t>čuvati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više</a:t>
            </a:r>
            <a:r>
              <a:rPr lang="en-US" sz="1800" dirty="0"/>
              <a:t> </a:t>
            </a:r>
            <a:r>
              <a:rPr lang="en-US" sz="1800" dirty="0" err="1"/>
              <a:t>servera</a:t>
            </a:r>
            <a:r>
              <a:rPr lang="en-US" sz="1800" dirty="0"/>
              <a:t> </a:t>
            </a:r>
            <a:r>
              <a:rPr lang="en-US" sz="1800" dirty="0" err="1"/>
              <a:t>istovremeno</a:t>
            </a:r>
            <a:r>
              <a:rPr lang="en-US" sz="1800" dirty="0"/>
              <a:t> </a:t>
            </a:r>
          </a:p>
          <a:p>
            <a:r>
              <a:rPr lang="en-US" sz="1800" dirty="0"/>
              <a:t>MongoDB to </a:t>
            </a:r>
            <a:r>
              <a:rPr lang="en-US" sz="1800" dirty="0" err="1"/>
              <a:t>rešava</a:t>
            </a:r>
            <a:r>
              <a:rPr lang="en-US" sz="1800" dirty="0"/>
              <a:t> </a:t>
            </a:r>
            <a:r>
              <a:rPr lang="en-US" sz="1800" dirty="0" err="1"/>
              <a:t>kroz</a:t>
            </a:r>
            <a:r>
              <a:rPr lang="en-US" sz="1800" dirty="0"/>
              <a:t> Replica Set</a:t>
            </a:r>
          </a:p>
        </p:txBody>
      </p:sp>
    </p:spTree>
    <p:extLst>
      <p:ext uri="{BB962C8B-B14F-4D97-AF65-F5344CB8AC3E}">
        <p14:creationId xmlns:p14="http://schemas.microsoft.com/office/powerpoint/2010/main" val="360401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ADB8B-F0E3-5014-9A71-2CBDD3786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8BFE-077E-4A1D-47B1-0769F42A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113606" cy="1485900"/>
          </a:xfrm>
        </p:spPr>
        <p:txBody>
          <a:bodyPr>
            <a:normAutofit/>
          </a:bodyPr>
          <a:lstStyle/>
          <a:p>
            <a:r>
              <a:rPr lang="en-US" sz="4000" dirty="0" err="1"/>
              <a:t>Arhitektura</a:t>
            </a:r>
            <a:r>
              <a:rPr lang="en-US" sz="4000" dirty="0"/>
              <a:t> </a:t>
            </a:r>
            <a:r>
              <a:rPr lang="en-US" sz="4000" dirty="0" err="1"/>
              <a:t>sistema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F0479-4946-7BD4-B2D5-489506A66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r>
              <a:rPr lang="en-US" sz="1800" dirty="0"/>
              <a:t>Primary </a:t>
            </a:r>
            <a:r>
              <a:rPr lang="en-US" sz="1800" dirty="0" err="1"/>
              <a:t>čvor</a:t>
            </a:r>
            <a:r>
              <a:rPr lang="en-US" sz="1800" dirty="0"/>
              <a:t> prima </a:t>
            </a:r>
            <a:r>
              <a:rPr lang="en-US" sz="1800" dirty="0" err="1"/>
              <a:t>sve</a:t>
            </a:r>
            <a:r>
              <a:rPr lang="en-US" sz="1800" dirty="0"/>
              <a:t> </a:t>
            </a:r>
            <a:r>
              <a:rPr lang="en-US" sz="1800" dirty="0" err="1"/>
              <a:t>operacije</a:t>
            </a:r>
            <a:r>
              <a:rPr lang="en-US" sz="1800" dirty="0"/>
              <a:t> </a:t>
            </a:r>
            <a:r>
              <a:rPr lang="en-US" sz="1800" dirty="0" err="1"/>
              <a:t>pisanja</a:t>
            </a:r>
            <a:r>
              <a:rPr lang="en-US" sz="1800" dirty="0"/>
              <a:t> </a:t>
            </a:r>
          </a:p>
          <a:p>
            <a:r>
              <a:rPr lang="en-US" sz="1800" dirty="0"/>
              <a:t>Secondary </a:t>
            </a:r>
            <a:r>
              <a:rPr lang="en-US" sz="1800" dirty="0" err="1"/>
              <a:t>čvorovi</a:t>
            </a:r>
            <a:r>
              <a:rPr lang="en-US" sz="1800" dirty="0"/>
              <a:t> </a:t>
            </a:r>
            <a:r>
              <a:rPr lang="en-US" sz="1800" dirty="0" err="1"/>
              <a:t>kopiraju</a:t>
            </a:r>
            <a:r>
              <a:rPr lang="en-US" sz="1800" dirty="0"/>
              <a:t> </a:t>
            </a:r>
            <a:r>
              <a:rPr lang="en-US" sz="1800" dirty="0" err="1"/>
              <a:t>podatke</a:t>
            </a:r>
            <a:r>
              <a:rPr lang="en-US" sz="1800" dirty="0"/>
              <a:t> </a:t>
            </a:r>
            <a:r>
              <a:rPr lang="en-US" sz="1800" dirty="0" err="1"/>
              <a:t>kroz</a:t>
            </a:r>
            <a:r>
              <a:rPr lang="en-US" sz="1800" dirty="0"/>
              <a:t> </a:t>
            </a:r>
            <a:r>
              <a:rPr lang="en-US" sz="1800" i="1" dirty="0" err="1"/>
              <a:t>oplog</a:t>
            </a:r>
            <a:r>
              <a:rPr lang="en-US" sz="1800" dirty="0"/>
              <a:t> </a:t>
            </a:r>
          </a:p>
          <a:p>
            <a:r>
              <a:rPr lang="en-US" sz="1800" i="1" dirty="0"/>
              <a:t>Heartbeat</a:t>
            </a:r>
            <a:r>
              <a:rPr lang="en-US" sz="1800" dirty="0"/>
              <a:t> </a:t>
            </a:r>
            <a:r>
              <a:rPr lang="en-US" sz="1800" dirty="0" err="1"/>
              <a:t>svakih</a:t>
            </a:r>
            <a:r>
              <a:rPr lang="en-US" sz="1800" dirty="0"/>
              <a:t> 2 </a:t>
            </a:r>
            <a:r>
              <a:rPr lang="en-US" sz="1800" dirty="0" err="1"/>
              <a:t>sekunde</a:t>
            </a:r>
            <a:r>
              <a:rPr lang="en-US" sz="1800" dirty="0"/>
              <a:t> </a:t>
            </a:r>
            <a:r>
              <a:rPr lang="en-US" sz="1800" dirty="0" err="1"/>
              <a:t>između</a:t>
            </a:r>
            <a:r>
              <a:rPr lang="en-US" sz="1800" dirty="0"/>
              <a:t> </a:t>
            </a:r>
            <a:r>
              <a:rPr lang="en-US" sz="1800" dirty="0" err="1"/>
              <a:t>čvorova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0C69F-DEEC-3393-0F37-55EA3E9B8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211" y="2447434"/>
            <a:ext cx="6517065" cy="325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8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6F9B2-7C76-8ACF-E771-659115E0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1B11D-73FA-86B4-BCE1-9A33F22B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7937500" cy="1485900"/>
          </a:xfrm>
        </p:spPr>
        <p:txBody>
          <a:bodyPr>
            <a:normAutofit/>
          </a:bodyPr>
          <a:lstStyle/>
          <a:p>
            <a:r>
              <a:rPr lang="en-US" sz="4000" dirty="0" err="1"/>
              <a:t>Implementacija</a:t>
            </a:r>
            <a:r>
              <a:rPr lang="en-US" sz="4000" dirty="0"/>
              <a:t> </a:t>
            </a:r>
            <a:r>
              <a:rPr lang="en-US" sz="4000" dirty="0" err="1"/>
              <a:t>praktičnog</a:t>
            </a:r>
            <a:r>
              <a:rPr lang="en-US" sz="4000" dirty="0"/>
              <a:t> dela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DE08-1745-AC7A-5C5A-28D892E65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3983423" cy="3581400"/>
          </a:xfrm>
        </p:spPr>
        <p:txBody>
          <a:bodyPr>
            <a:normAutofit/>
          </a:bodyPr>
          <a:lstStyle/>
          <a:p>
            <a:r>
              <a:rPr lang="en-US" sz="1800" dirty="0"/>
              <a:t>Spring Boot </a:t>
            </a:r>
            <a:r>
              <a:rPr lang="en-US" sz="1800" dirty="0" err="1"/>
              <a:t>aplikacija</a:t>
            </a:r>
            <a:r>
              <a:rPr lang="en-US" sz="1800" dirty="0"/>
              <a:t> </a:t>
            </a:r>
          </a:p>
          <a:p>
            <a:pPr lvl="1"/>
            <a:r>
              <a:rPr lang="en-US" sz="1800" dirty="0"/>
              <a:t>3 MongoDB </a:t>
            </a:r>
            <a:r>
              <a:rPr lang="en-US" sz="1800" dirty="0" err="1"/>
              <a:t>čvora</a:t>
            </a:r>
            <a:r>
              <a:rPr lang="en-US" sz="1800" dirty="0"/>
              <a:t> u Docker-u </a:t>
            </a:r>
          </a:p>
          <a:p>
            <a:r>
              <a:rPr lang="en-US" sz="1800" dirty="0"/>
              <a:t>5 REST </a:t>
            </a:r>
            <a:r>
              <a:rPr lang="en-US" sz="1800" dirty="0" err="1"/>
              <a:t>endpointa</a:t>
            </a:r>
            <a:r>
              <a:rPr lang="en-US" sz="1800" dirty="0"/>
              <a:t> za </a:t>
            </a:r>
            <a:r>
              <a:rPr lang="en-US" sz="1800" dirty="0" err="1"/>
              <a:t>testiranje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Domenski</a:t>
            </a:r>
            <a:r>
              <a:rPr lang="en-US" sz="1800" dirty="0"/>
              <a:t> model:</a:t>
            </a:r>
          </a:p>
          <a:p>
            <a:pPr lvl="1"/>
            <a:r>
              <a:rPr lang="en-US" sz="1800" dirty="0" err="1"/>
              <a:t>XbrlReportSuite</a:t>
            </a:r>
            <a:endParaRPr lang="en-US" sz="1800" dirty="0"/>
          </a:p>
          <a:p>
            <a:pPr lvl="1"/>
            <a:r>
              <a:rPr lang="en-US" sz="1800" dirty="0" err="1"/>
              <a:t>XbrlAttachment</a:t>
            </a:r>
            <a:endParaRPr lang="en-US" sz="1800" dirty="0"/>
          </a:p>
          <a:p>
            <a:pPr lvl="1"/>
            <a:r>
              <a:rPr lang="en-US" sz="1800" dirty="0" err="1"/>
              <a:t>AuthUser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D68C25-B7E9-57BE-333C-84137AE43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023" y="2171700"/>
            <a:ext cx="6517065" cy="325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6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28F11-862F-0CFA-1D60-20078BFF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3E0B-A5BE-763C-9C3A-2DD4FC26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sz="4000" dirty="0"/>
              <a:t>Scenario 1: </a:t>
            </a:r>
            <a:r>
              <a:rPr lang="en-US" sz="4000" dirty="0" err="1"/>
              <a:t>Replikacija</a:t>
            </a:r>
            <a:r>
              <a:rPr lang="en-US" sz="4000" dirty="0"/>
              <a:t> </a:t>
            </a:r>
            <a:r>
              <a:rPr lang="en-US" sz="4000" dirty="0" err="1"/>
              <a:t>i</a:t>
            </a:r>
            <a:r>
              <a:rPr lang="en-US" sz="4000" dirty="0"/>
              <a:t> </a:t>
            </a:r>
            <a:r>
              <a:rPr lang="en-US" sz="4000" dirty="0" err="1"/>
              <a:t>kašnjenje</a:t>
            </a:r>
            <a:endParaRPr lang="en-US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1C53-A96A-B781-64C3-5BA992F6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593138" cy="3581400"/>
          </a:xfrm>
        </p:spPr>
        <p:txBody>
          <a:bodyPr>
            <a:normAutofit/>
          </a:bodyPr>
          <a:lstStyle/>
          <a:p>
            <a:r>
              <a:rPr lang="en-US" sz="1800" dirty="0" err="1"/>
              <a:t>Upisano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Primary → </a:t>
            </a:r>
            <a:r>
              <a:rPr lang="en-US" sz="1800" dirty="0" err="1"/>
              <a:t>odmah</a:t>
            </a:r>
            <a:r>
              <a:rPr lang="en-US" sz="1800" dirty="0"/>
              <a:t> </a:t>
            </a:r>
            <a:r>
              <a:rPr lang="en-US" sz="1800" dirty="0" err="1"/>
              <a:t>čitano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Secondary </a:t>
            </a:r>
          </a:p>
          <a:p>
            <a:r>
              <a:rPr lang="en-US" sz="1800" dirty="0" err="1"/>
              <a:t>Izmereno</a:t>
            </a:r>
            <a:r>
              <a:rPr lang="en-US" sz="1800" dirty="0"/>
              <a:t> </a:t>
            </a:r>
            <a:r>
              <a:rPr lang="en-US" sz="1800" dirty="0" err="1"/>
              <a:t>kašnjenje</a:t>
            </a:r>
            <a:r>
              <a:rPr lang="en-US" sz="1800" dirty="0"/>
              <a:t>: 15 </a:t>
            </a:r>
            <a:r>
              <a:rPr lang="en-US" sz="1800" dirty="0" err="1"/>
              <a:t>ms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Dokument</a:t>
            </a:r>
            <a:r>
              <a:rPr lang="en-US" sz="1800" dirty="0"/>
              <a:t> </a:t>
            </a:r>
            <a:r>
              <a:rPr lang="en-US" sz="1800" dirty="0" err="1"/>
              <a:t>vidljiv</a:t>
            </a:r>
            <a:r>
              <a:rPr lang="en-US" sz="1800" dirty="0"/>
              <a:t> </a:t>
            </a:r>
            <a:r>
              <a:rPr lang="en-US" sz="1800" dirty="0" err="1"/>
              <a:t>već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prvom</a:t>
            </a:r>
            <a:r>
              <a:rPr lang="en-US" sz="1800" dirty="0"/>
              <a:t> </a:t>
            </a:r>
            <a:r>
              <a:rPr lang="en-US" sz="1800" dirty="0" err="1"/>
              <a:t>pokušaju</a:t>
            </a:r>
            <a:r>
              <a:rPr lang="en-US" sz="1800" dirty="0"/>
              <a:t> </a:t>
            </a:r>
            <a:r>
              <a:rPr lang="en-US" sz="1800" dirty="0" err="1"/>
              <a:t>čitanja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6E316-04D1-48DD-88CE-63533C0E0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741" y="3857182"/>
            <a:ext cx="8267918" cy="231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3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096FC-8866-1009-7179-D9E6573E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A487-0649-FA1B-99F1-F1F52AE1D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1079538" cy="1485900"/>
          </a:xfrm>
        </p:spPr>
        <p:txBody>
          <a:bodyPr>
            <a:normAutofit/>
          </a:bodyPr>
          <a:lstStyle/>
          <a:p>
            <a:r>
              <a:rPr lang="en-US" sz="4000" dirty="0"/>
              <a:t>Scenario 2: Read Preference </a:t>
            </a:r>
            <a:r>
              <a:rPr lang="en-US" sz="4000" dirty="0" err="1"/>
              <a:t>i</a:t>
            </a:r>
            <a:r>
              <a:rPr lang="en-US" sz="4000" dirty="0"/>
              <a:t> Write Concern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8652-C382-E210-3154-E35B02E96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sz="1800" dirty="0"/>
              <a:t>PRIMARY </a:t>
            </a:r>
            <a:r>
              <a:rPr lang="en-US" sz="1800" dirty="0" err="1"/>
              <a:t>čitanje</a:t>
            </a:r>
            <a:r>
              <a:rPr lang="en-US" sz="1800" dirty="0"/>
              <a:t>: 2 </a:t>
            </a:r>
            <a:r>
              <a:rPr lang="en-US" sz="1800" dirty="0" err="1"/>
              <a:t>ms</a:t>
            </a:r>
            <a:r>
              <a:rPr lang="en-US" sz="1800" dirty="0"/>
              <a:t> / SECONDARY </a:t>
            </a:r>
            <a:r>
              <a:rPr lang="en-US" sz="1800" dirty="0" err="1"/>
              <a:t>čitanje</a:t>
            </a:r>
            <a:r>
              <a:rPr lang="en-US" sz="1800" dirty="0"/>
              <a:t>: 2 </a:t>
            </a:r>
            <a:r>
              <a:rPr lang="en-US" sz="1800" dirty="0" err="1"/>
              <a:t>ms</a:t>
            </a:r>
            <a:r>
              <a:rPr lang="en-US" sz="1800" dirty="0"/>
              <a:t> </a:t>
            </a:r>
          </a:p>
          <a:p>
            <a:r>
              <a:rPr lang="en-US" sz="1800" dirty="0"/>
              <a:t>w:1 = 3 </a:t>
            </a:r>
            <a:r>
              <a:rPr lang="en-US" sz="1800" dirty="0" err="1"/>
              <a:t>ms</a:t>
            </a:r>
            <a:r>
              <a:rPr lang="en-US" sz="1800" dirty="0"/>
              <a:t>, </a:t>
            </a:r>
            <a:r>
              <a:rPr lang="en-US" sz="1800" dirty="0" err="1"/>
              <a:t>w:majority</a:t>
            </a:r>
            <a:r>
              <a:rPr lang="en-US" sz="1800" dirty="0"/>
              <a:t> = 1 </a:t>
            </a:r>
            <a:r>
              <a:rPr lang="en-US" sz="1800" dirty="0" err="1"/>
              <a:t>ms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Neočekivani</a:t>
            </a:r>
            <a:r>
              <a:rPr lang="en-US" sz="1800" dirty="0"/>
              <a:t> </a:t>
            </a:r>
            <a:r>
              <a:rPr lang="en-US" sz="1800" dirty="0" err="1"/>
              <a:t>nalaz</a:t>
            </a:r>
            <a:r>
              <a:rPr lang="en-US" sz="1800" dirty="0"/>
              <a:t>: </a:t>
            </a:r>
            <a:r>
              <a:rPr lang="en-US" sz="1800" dirty="0" err="1"/>
              <a:t>w:majority</a:t>
            </a:r>
            <a:r>
              <a:rPr lang="en-US" sz="1800" dirty="0"/>
              <a:t> </a:t>
            </a:r>
            <a:r>
              <a:rPr lang="en-US" sz="1800" dirty="0" err="1"/>
              <a:t>brži</a:t>
            </a:r>
            <a:r>
              <a:rPr lang="en-US" sz="1800" dirty="0"/>
              <a:t> u </a:t>
            </a:r>
            <a:r>
              <a:rPr lang="en-US" sz="1800" dirty="0" err="1"/>
              <a:t>lokalnom</a:t>
            </a:r>
            <a:r>
              <a:rPr lang="en-US" sz="1800" dirty="0"/>
              <a:t> </a:t>
            </a:r>
            <a:r>
              <a:rPr lang="en-US" sz="1800" dirty="0" err="1"/>
              <a:t>okruženju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42431-4E19-9DFF-3EBE-C9C9D9129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45183"/>
            <a:ext cx="5421087" cy="271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3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081AE-9321-A358-E207-077C9933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4E1D-6B48-EBE3-5150-8892E445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sz="4000" dirty="0"/>
              <a:t>Scenario 3: Failover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A685A-4A40-F600-7B02-05EAAF02A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sz="1800" dirty="0"/>
              <a:t>mongo1 </a:t>
            </a:r>
            <a:r>
              <a:rPr lang="en-US" sz="1800" dirty="0" err="1"/>
              <a:t>ugašen</a:t>
            </a:r>
            <a:r>
              <a:rPr lang="en-US" sz="1800" dirty="0"/>
              <a:t> → mongo2 </a:t>
            </a:r>
            <a:r>
              <a:rPr lang="en-US" sz="1800" dirty="0" err="1"/>
              <a:t>postaje</a:t>
            </a:r>
            <a:r>
              <a:rPr lang="en-US" sz="1800" dirty="0"/>
              <a:t> PRIMARY </a:t>
            </a:r>
          </a:p>
          <a:p>
            <a:r>
              <a:rPr lang="en-US" sz="1800" dirty="0"/>
              <a:t>Vreme </a:t>
            </a:r>
            <a:r>
              <a:rPr lang="en-US" sz="1800" dirty="0" err="1"/>
              <a:t>izbora</a:t>
            </a:r>
            <a:r>
              <a:rPr lang="en-US" sz="1800" dirty="0"/>
              <a:t>: 506 </a:t>
            </a:r>
            <a:r>
              <a:rPr lang="en-US" sz="1800" dirty="0" err="1"/>
              <a:t>ms</a:t>
            </a:r>
            <a:r>
              <a:rPr lang="en-US" sz="1800" dirty="0"/>
              <a:t> </a:t>
            </a:r>
          </a:p>
          <a:p>
            <a:r>
              <a:rPr lang="en-US" sz="1800" dirty="0"/>
              <a:t>Term </a:t>
            </a:r>
            <a:r>
              <a:rPr lang="en-US" sz="1800" dirty="0" err="1"/>
              <a:t>povećan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1 </a:t>
            </a:r>
            <a:r>
              <a:rPr lang="en-US" sz="1800" dirty="0" err="1"/>
              <a:t>na</a:t>
            </a:r>
            <a:r>
              <a:rPr lang="en-US" sz="1800" dirty="0"/>
              <a:t> 2 (Raft </a:t>
            </a:r>
            <a:r>
              <a:rPr lang="en-US" sz="1800" dirty="0" err="1"/>
              <a:t>algoritam</a:t>
            </a:r>
            <a:r>
              <a:rPr lang="en-US" sz="18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34F7D-F233-28F0-0985-E75C777C5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866" y="2286000"/>
            <a:ext cx="5105445" cy="315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9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3709E-8462-49FC-7B53-E0D9D46B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FCB9-D9DB-5CEF-9A95-7D5655BF3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sz="4000" dirty="0" err="1"/>
              <a:t>Eksperiment</a:t>
            </a:r>
            <a:r>
              <a:rPr lang="en-US" sz="4000" dirty="0"/>
              <a:t> 4: Failback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C0C1-8A4C-FB1D-29CA-638EA3B06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sz="1800" dirty="0"/>
              <a:t>mongo1 </a:t>
            </a:r>
            <a:r>
              <a:rPr lang="en-US" sz="1800" dirty="0" err="1"/>
              <a:t>ponovo</a:t>
            </a:r>
            <a:r>
              <a:rPr lang="en-US" sz="1800" dirty="0"/>
              <a:t> </a:t>
            </a:r>
            <a:r>
              <a:rPr lang="en-US" sz="1800" dirty="0" err="1"/>
              <a:t>pokrenut</a:t>
            </a:r>
            <a:r>
              <a:rPr lang="en-US" sz="1800" dirty="0"/>
              <a:t> → 2042 </a:t>
            </a:r>
            <a:r>
              <a:rPr lang="en-US" sz="1800" dirty="0" err="1"/>
              <a:t>ms</a:t>
            </a:r>
            <a:r>
              <a:rPr lang="en-US" sz="1800" dirty="0"/>
              <a:t> do SECONDARY </a:t>
            </a:r>
            <a:r>
              <a:rPr lang="en-US" sz="1800" dirty="0" err="1"/>
              <a:t>stanja</a:t>
            </a:r>
            <a:r>
              <a:rPr lang="en-US" sz="1800" dirty="0"/>
              <a:t> </a:t>
            </a:r>
          </a:p>
          <a:p>
            <a:r>
              <a:rPr lang="en-US" sz="1800" dirty="0"/>
              <a:t>4 </a:t>
            </a:r>
            <a:r>
              <a:rPr lang="en-US" sz="1800" dirty="0" err="1"/>
              <a:t>provere</a:t>
            </a:r>
            <a:r>
              <a:rPr lang="en-US" sz="1800" dirty="0"/>
              <a:t> × 500 </a:t>
            </a:r>
            <a:r>
              <a:rPr lang="en-US" sz="1800" dirty="0" err="1"/>
              <a:t>ms</a:t>
            </a:r>
            <a:r>
              <a:rPr lang="en-US" sz="1800" dirty="0"/>
              <a:t> </a:t>
            </a:r>
          </a:p>
          <a:p>
            <a:r>
              <a:rPr lang="en-US" sz="1800" dirty="0"/>
              <a:t>Term </a:t>
            </a:r>
            <a:r>
              <a:rPr lang="en-US" sz="1800" dirty="0" err="1"/>
              <a:t>povećan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3, mongo1 </a:t>
            </a:r>
            <a:r>
              <a:rPr lang="en-US" sz="1800" dirty="0" err="1"/>
              <a:t>ponovo</a:t>
            </a:r>
            <a:r>
              <a:rPr lang="en-US" sz="1800" dirty="0"/>
              <a:t> PRIMARY </a:t>
            </a:r>
            <a:r>
              <a:rPr lang="en-US" sz="1800" dirty="0" err="1"/>
              <a:t>zbog</a:t>
            </a:r>
            <a:r>
              <a:rPr lang="en-US" sz="1800" dirty="0"/>
              <a:t> </a:t>
            </a:r>
            <a:r>
              <a:rPr lang="en-US" sz="1800" dirty="0" err="1"/>
              <a:t>višeg</a:t>
            </a:r>
            <a:r>
              <a:rPr lang="en-US" sz="1800" dirty="0"/>
              <a:t> </a:t>
            </a:r>
            <a:r>
              <a:rPr lang="en-US" sz="1800" dirty="0" err="1"/>
              <a:t>prioriteta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6E660-8D06-5B46-BFB3-B10AFAEF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641" y="2171700"/>
            <a:ext cx="5105445" cy="285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48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D8997-9CCA-2092-F6E7-B50CF1A11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3ADD-16FD-1559-EB60-70A95F25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sz="4000" dirty="0" err="1"/>
              <a:t>Zaključak</a:t>
            </a:r>
            <a:r>
              <a:rPr lang="en-US" sz="4000" dirty="0"/>
              <a:t> </a:t>
            </a:r>
            <a:r>
              <a:rPr lang="en-US" sz="4000" dirty="0" err="1"/>
              <a:t>i</a:t>
            </a:r>
            <a:r>
              <a:rPr lang="en-US" sz="4000" dirty="0"/>
              <a:t> </a:t>
            </a:r>
            <a:r>
              <a:rPr lang="en-US" sz="4000" dirty="0" err="1"/>
              <a:t>ukupni</a:t>
            </a:r>
            <a:r>
              <a:rPr lang="en-US" sz="4000" dirty="0"/>
              <a:t> </a:t>
            </a:r>
            <a:r>
              <a:rPr lang="en-US" sz="4000" dirty="0" err="1"/>
              <a:t>rezultati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36C1B-8CD3-D4B1-6AA3-643C1A224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sz="1800" dirty="0"/>
              <a:t>Svi </a:t>
            </a:r>
            <a:r>
              <a:rPr lang="en-US" sz="1800" dirty="0" err="1"/>
              <a:t>testovi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</a:t>
            </a:r>
            <a:r>
              <a:rPr lang="en-US" sz="1800" dirty="0" err="1"/>
              <a:t>potvrdili</a:t>
            </a:r>
            <a:r>
              <a:rPr lang="en-US" sz="1800" dirty="0"/>
              <a:t> ono </a:t>
            </a:r>
            <a:r>
              <a:rPr lang="en-US" sz="1800" dirty="0" err="1"/>
              <a:t>što</a:t>
            </a:r>
            <a:r>
              <a:rPr lang="en-US" sz="1800" dirty="0"/>
              <a:t> je </a:t>
            </a:r>
            <a:r>
              <a:rPr lang="en-US" sz="1800" dirty="0" err="1"/>
              <a:t>definisano</a:t>
            </a:r>
            <a:r>
              <a:rPr lang="en-US" sz="1800" dirty="0"/>
              <a:t> </a:t>
            </a:r>
            <a:r>
              <a:rPr lang="en-US" sz="1800" dirty="0" err="1"/>
              <a:t>teorijom</a:t>
            </a:r>
            <a:endParaRPr lang="en-US" sz="1800" dirty="0"/>
          </a:p>
          <a:p>
            <a:r>
              <a:rPr lang="en-US" sz="1800" dirty="0"/>
              <a:t>Failover &lt; 1 </a:t>
            </a:r>
            <a:r>
              <a:rPr lang="en-US" sz="1800" dirty="0" err="1"/>
              <a:t>sekunda</a:t>
            </a:r>
            <a:r>
              <a:rPr lang="en-US" sz="1800" dirty="0"/>
              <a:t> u </a:t>
            </a:r>
            <a:r>
              <a:rPr lang="en-US" sz="1800" dirty="0" err="1"/>
              <a:t>optimalnim</a:t>
            </a:r>
            <a:r>
              <a:rPr lang="en-US" sz="1800" dirty="0"/>
              <a:t> </a:t>
            </a:r>
            <a:r>
              <a:rPr lang="en-US" sz="1800" dirty="0" err="1"/>
              <a:t>uslovima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Ograničenje</a:t>
            </a:r>
            <a:r>
              <a:rPr lang="en-US" sz="1800" dirty="0"/>
              <a:t>: </a:t>
            </a:r>
            <a:r>
              <a:rPr lang="en-US" sz="1800" dirty="0" err="1"/>
              <a:t>lokalni</a:t>
            </a:r>
            <a:r>
              <a:rPr lang="en-US" sz="1800" dirty="0"/>
              <a:t> Docker ne </a:t>
            </a:r>
            <a:r>
              <a:rPr lang="en-US" sz="1800" dirty="0" err="1"/>
              <a:t>modeluje</a:t>
            </a:r>
            <a:r>
              <a:rPr lang="en-US" sz="1800" dirty="0"/>
              <a:t> </a:t>
            </a:r>
            <a:r>
              <a:rPr lang="en-US" sz="1800" dirty="0" err="1"/>
              <a:t>realne</a:t>
            </a:r>
            <a:r>
              <a:rPr lang="en-US" sz="1800" dirty="0"/>
              <a:t> </a:t>
            </a:r>
            <a:r>
              <a:rPr lang="en-US" sz="1800" dirty="0" err="1"/>
              <a:t>mrežne</a:t>
            </a:r>
            <a:r>
              <a:rPr lang="en-US" sz="1800" dirty="0"/>
              <a:t> </a:t>
            </a:r>
            <a:r>
              <a:rPr lang="en-US" sz="1800" dirty="0" err="1"/>
              <a:t>uslove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Produkcija</a:t>
            </a:r>
            <a:r>
              <a:rPr lang="en-US" sz="1800" dirty="0"/>
              <a:t>: failover 10–30 s, </a:t>
            </a:r>
            <a:r>
              <a:rPr lang="en-US" sz="1800" dirty="0" err="1"/>
              <a:t>replikacijski</a:t>
            </a:r>
            <a:r>
              <a:rPr lang="en-US" sz="1800" dirty="0"/>
              <a:t> lag </a:t>
            </a:r>
            <a:r>
              <a:rPr lang="en-US" sz="1800" dirty="0" err="1"/>
              <a:t>veći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B7289-FC52-7B1A-3956-24BB9BCB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641" y="2171700"/>
            <a:ext cx="5105445" cy="279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B7FB0-7F14-1505-FD7D-D90DBD52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ECB0E0D-AC1B-4E83-84EA-237BFA206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6DCB3B1-E1A7-4510-831B-77C8EFF56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10132A3B-10CF-4EEB-BA1F-A63D2ED61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014E52ED-3C51-46E6-BE4B-14FFAB2C3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F28075-05BA-E434-C4C7-6D03928F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21" y="1480930"/>
            <a:ext cx="5751537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cap="all" dirty="0"/>
              <a:t>Hvala </a:t>
            </a:r>
            <a:r>
              <a:rPr lang="en-US" sz="4000" cap="all" dirty="0" err="1"/>
              <a:t>na</a:t>
            </a:r>
            <a:r>
              <a:rPr lang="en-US" sz="4000" cap="all" dirty="0"/>
              <a:t> </a:t>
            </a:r>
            <a:r>
              <a:rPr lang="en-US" sz="4000" cap="all" dirty="0" err="1"/>
              <a:t>pažnji</a:t>
            </a:r>
            <a:r>
              <a:rPr lang="en-US" sz="4000" cap="all" dirty="0"/>
              <a:t>!</a:t>
            </a:r>
            <a:br>
              <a:rPr lang="en-US" sz="4000" cap="all" dirty="0"/>
            </a:br>
            <a:br>
              <a:rPr lang="en-US" sz="4000" cap="all" dirty="0"/>
            </a:br>
            <a:endParaRPr lang="en-US" sz="4000" cap="all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16DDC6-8F07-46CC-8751-E5C9346B2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4964" y="2388358"/>
            <a:ext cx="0" cy="1856096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12362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4386</TotalTime>
  <Words>287</Words>
  <Application>Microsoft Macintosh PowerPoint</Application>
  <PresentationFormat>Widescreen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Franklin Gothic Book</vt:lpstr>
      <vt:lpstr>Crop</vt:lpstr>
      <vt:lpstr>REPLIKACIJA I MEHANIZMI VISOKE DOSTUPNOSTI U MONGODB REPLICA SET ARHITEKTURI</vt:lpstr>
      <vt:lpstr>Zašto jedna baza podataka nije dovoljna?</vt:lpstr>
      <vt:lpstr>Arhitektura sistema</vt:lpstr>
      <vt:lpstr>Implementacija praktičnog dela</vt:lpstr>
      <vt:lpstr>Scenario 1: Replikacija i kašnjenje</vt:lpstr>
      <vt:lpstr>Scenario 2: Read Preference i Write Concern</vt:lpstr>
      <vt:lpstr>Scenario 3: Failover</vt:lpstr>
      <vt:lpstr>Eksperiment 4: Failback</vt:lpstr>
      <vt:lpstr>Zaključak i ukupni rezultati</vt:lpstr>
      <vt:lpstr>Hvala na pažnji!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Valcic</dc:creator>
  <cp:lastModifiedBy>Andrea Valcic</cp:lastModifiedBy>
  <cp:revision>112</cp:revision>
  <dcterms:created xsi:type="dcterms:W3CDTF">2026-01-28T08:57:32Z</dcterms:created>
  <dcterms:modified xsi:type="dcterms:W3CDTF">2026-07-07T10:26:27Z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629de7-cfdf-49f2-9483-80ca02e7fb52_Enabled">
    <vt:lpwstr>true</vt:lpwstr>
  </property>
  <property fmtid="{D5CDD505-2E9C-101B-9397-08002B2CF9AE}" pid="3" name="MSIP_Label_ac629de7-cfdf-49f2-9483-80ca02e7fb52_SetDate">
    <vt:lpwstr>2026-01-28T10:22:13Z</vt:lpwstr>
  </property>
  <property fmtid="{D5CDD505-2E9C-101B-9397-08002B2CF9AE}" pid="4" name="MSIP_Label_ac629de7-cfdf-49f2-9483-80ca02e7fb52_Method">
    <vt:lpwstr>Standard</vt:lpwstr>
  </property>
  <property fmtid="{D5CDD505-2E9C-101B-9397-08002B2CF9AE}" pid="5" name="MSIP_Label_ac629de7-cfdf-49f2-9483-80ca02e7fb52_Name">
    <vt:lpwstr>HTEC Internal</vt:lpwstr>
  </property>
  <property fmtid="{D5CDD505-2E9C-101B-9397-08002B2CF9AE}" pid="6" name="MSIP_Label_ac629de7-cfdf-49f2-9483-80ca02e7fb52_SiteId">
    <vt:lpwstr>9f85665b-7efd-4776-9dfe-b6bfda2565ee</vt:lpwstr>
  </property>
  <property fmtid="{D5CDD505-2E9C-101B-9397-08002B2CF9AE}" pid="7" name="MSIP_Label_ac629de7-cfdf-49f2-9483-80ca02e7fb52_ActionId">
    <vt:lpwstr>cee629b1-8fc4-41e1-941b-0ece0b63527b</vt:lpwstr>
  </property>
  <property fmtid="{D5CDD505-2E9C-101B-9397-08002B2CF9AE}" pid="8" name="MSIP_Label_ac629de7-cfdf-49f2-9483-80ca02e7fb52_ContentBits">
    <vt:lpwstr>1</vt:lpwstr>
  </property>
  <property fmtid="{D5CDD505-2E9C-101B-9397-08002B2CF9AE}" pid="9" name="MSIP_Label_ac629de7-cfdf-49f2-9483-80ca02e7fb52_Tag">
    <vt:lpwstr>50, 3, 0, 1</vt:lpwstr>
  </property>
  <property fmtid="{D5CDD505-2E9C-101B-9397-08002B2CF9AE}" pid="10" name="ClassificationContentMarkingHeaderLocations">
    <vt:lpwstr>Crop:8</vt:lpwstr>
  </property>
  <property fmtid="{D5CDD505-2E9C-101B-9397-08002B2CF9AE}" pid="11" name="ClassificationContentMarkingHeaderText">
    <vt:lpwstr>Proprietary</vt:lpwstr>
  </property>
</Properties>
</file>